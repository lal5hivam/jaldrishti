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02" cy="685800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486" y="0"/>
            <a:ext cx="7315" cy="6858000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6434" y="548640"/>
            <a:ext cx="7315" cy="5829300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0" y="5486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48006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" y="171450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164592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0" y="288036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" y="281177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0" y="404622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397763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0" y="521208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" y="514350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" y="63779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" y="630935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50</a:t>
            </a:r>
          </a:p>
        </p:txBody>
      </p:sp>
      <p:sp>
        <p:nvSpPr>
          <p:cNvPr id="18" name="Oval 17"/>
          <p:cNvSpPr/>
          <p:nvPr/>
        </p:nvSpPr>
        <p:spPr>
          <a:xfrm>
            <a:off x="436462" y="445010"/>
            <a:ext cx="207258" cy="207258"/>
          </a:xfrm>
          <a:prstGeom prst="ellipse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473952"/>
            <a:ext cx="8778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spc="120">
                <a:solidFill>
                  <a:srgbClr val="6C7D80"/>
                </a:solidFill>
                <a:latin typeface="Consolas"/>
              </a:rPr>
              <a:t>mbgl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4113" y="64373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00">
                <a:solidFill>
                  <a:srgbClr val="6C7D80"/>
                </a:solidFill>
                <a:latin typeface="Consolas"/>
              </a:rPr>
              <a:t>JALDRISHTI</a:t>
            </a:r>
            <a:r>
              <a:rPr sz="800" b="0" spc="100">
                <a:solidFill>
                  <a:srgbClr val="6C7D80"/>
                </a:solidFill>
                <a:latin typeface="Consolas"/>
              </a:rPr>
              <a:t>     01 / 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37883"/>
            <a:ext cx="12191695" cy="20116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837883"/>
            <a:ext cx="0" cy="20116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53" y="1481328"/>
            <a:ext cx="100703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4000"/>
              </a:lnSpc>
            </a:pPr>
            <a:r>
              <a:rPr sz="10900" b="1">
                <a:solidFill>
                  <a:srgbClr val="0E6E7D"/>
                </a:solidFill>
                <a:latin typeface="Arial Narrow"/>
              </a:rPr>
              <a:t>JAL</a:t>
            </a:r>
            <a:r>
              <a:rPr sz="10900" b="1">
                <a:solidFill>
                  <a:srgbClr val="0E1C20"/>
                </a:solidFill>
                <a:latin typeface="Arial Narrow"/>
              </a:rPr>
              <a:t>DRISHTI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89853" y="3127248"/>
            <a:ext cx="7863840" cy="10972"/>
          </a:xfrm>
          <a:prstGeom prst="rect">
            <a:avLst/>
          </a:prstGeom>
          <a:solidFill>
            <a:srgbClr val="0E1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9853" y="3246120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140">
                <a:solidFill>
                  <a:srgbClr val="6C7D80"/>
                </a:solidFill>
                <a:latin typeface="Consolas"/>
              </a:rPr>
              <a:t>GROUND SURFACE  ·  0.00 MBGL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53" y="3611880"/>
            <a:ext cx="100703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spc="40">
                <a:solidFill>
                  <a:srgbClr val="3B4E52"/>
                </a:solidFill>
                <a:latin typeface="Arial Narrow"/>
              </a:rPr>
              <a:t>A GROUNDWATER MONITORING</a:t>
            </a:r>
          </a:p>
          <a:p>
            <a:pPr algn="l">
              <a:lnSpc>
                <a:spcPct val="110000"/>
              </a:lnSpc>
            </a:pPr>
            <a:r>
              <a:rPr sz="2400" b="0" spc="40">
                <a:solidFill>
                  <a:srgbClr val="3B4E52"/>
                </a:solidFill>
                <a:latin typeface="Arial Narrow"/>
              </a:rPr>
              <a:t>AND PREDICTIVE ALERT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53" y="5257800"/>
            <a:ext cx="100703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80">
                <a:solidFill>
                  <a:srgbClr val="6C7D80"/>
                </a:solidFill>
                <a:latin typeface="Consolas"/>
              </a:rPr>
              <a:t>MINOR PROJECT     B.TECH · COMPUTER SCIENCE &amp; ENGINEERING     INVERTIS UNIVERSITY  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02" cy="685800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486" y="0"/>
            <a:ext cx="7315" cy="6858000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6434" y="548640"/>
            <a:ext cx="7315" cy="5829300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0" y="5486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48006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" y="171450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164592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0" y="288036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" y="281177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0" y="404622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397763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0" y="521208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" y="514350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" y="63779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" y="630935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50</a:t>
            </a:r>
          </a:p>
        </p:txBody>
      </p:sp>
      <p:sp>
        <p:nvSpPr>
          <p:cNvPr id="18" name="Oval 17"/>
          <p:cNvSpPr/>
          <p:nvPr/>
        </p:nvSpPr>
        <p:spPr>
          <a:xfrm>
            <a:off x="436462" y="833630"/>
            <a:ext cx="207258" cy="207258"/>
          </a:xfrm>
          <a:prstGeom prst="ellipse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473952"/>
            <a:ext cx="8778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spc="120">
                <a:solidFill>
                  <a:srgbClr val="6C7D80"/>
                </a:solidFill>
                <a:latin typeface="Consolas"/>
              </a:rPr>
              <a:t>mbgl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53" y="1062989"/>
            <a:ext cx="10070340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113" y="64373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00">
                <a:solidFill>
                  <a:srgbClr val="6C7D80"/>
                </a:solidFill>
                <a:latin typeface="Consolas"/>
              </a:rPr>
              <a:t>JALDRISHTI</a:t>
            </a:r>
            <a:r>
              <a:rPr sz="800" b="0" spc="100">
                <a:solidFill>
                  <a:srgbClr val="6C7D80"/>
                </a:solidFill>
                <a:latin typeface="Consolas"/>
              </a:rPr>
              <a:t>     02 /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7883"/>
            <a:ext cx="12191695" cy="20116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37883"/>
            <a:ext cx="812779" cy="20116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9853" y="502920"/>
            <a:ext cx="1007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200">
                <a:solidFill>
                  <a:srgbClr val="0A5563"/>
                </a:solidFill>
                <a:latin typeface="Consolas"/>
              </a:rPr>
              <a:t>THE PROBLEM  </a:t>
            </a:r>
            <a:r>
              <a:rPr sz="900" b="0" spc="200">
                <a:solidFill>
                  <a:srgbClr val="6C7D80"/>
                </a:solidFill>
                <a:latin typeface="Consolas"/>
              </a:rPr>
              <a:t>/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53" y="1303020"/>
            <a:ext cx="100703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INDIA RUNS ON WATER</a:t>
            </a:r>
          </a:p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IT CANNOT SEE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53" y="2802636"/>
            <a:ext cx="33567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>
                <a:solidFill>
                  <a:srgbClr val="0E6E7D"/>
                </a:solidFill>
                <a:latin typeface="Arial Narrow"/>
              </a:rPr>
              <a:t>63</a:t>
            </a:r>
            <a:r>
              <a:rPr sz="5200" b="1">
                <a:solidFill>
                  <a:srgbClr val="3B4E52"/>
                </a:solidFill>
                <a:latin typeface="Arial Narrow"/>
              </a:rPr>
              <a:t>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53" y="3461004"/>
            <a:ext cx="33567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OF IRRIGATED AREA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53" y="3973068"/>
            <a:ext cx="3173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B4E52"/>
                </a:solidFill>
                <a:latin typeface="Palatino Linotype"/>
              </a:rPr>
              <a:t>Fed from groundwater, not surface canals or rivers.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6633" y="2802636"/>
            <a:ext cx="33567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>
                <a:solidFill>
                  <a:srgbClr val="0E6E7D"/>
                </a:solidFill>
                <a:latin typeface="Arial Narrow"/>
              </a:rPr>
              <a:t>85</a:t>
            </a:r>
            <a:r>
              <a:rPr sz="5200" b="1">
                <a:solidFill>
                  <a:srgbClr val="3B4E52"/>
                </a:solidFill>
                <a:latin typeface="Arial Narrow"/>
              </a:rPr>
              <a:t>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6633" y="3461004"/>
            <a:ext cx="33567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OF RURAL DRINKING WATER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46633" y="3973068"/>
            <a:ext cx="3173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B4E52"/>
                </a:solidFill>
                <a:latin typeface="Palatino Linotype"/>
              </a:rPr>
              <a:t>Drawn from wells and borewells across the country.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3413" y="2802636"/>
            <a:ext cx="33567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>
                <a:solidFill>
                  <a:srgbClr val="0E6E7D"/>
                </a:solidFill>
                <a:latin typeface="Arial Narrow"/>
              </a:rPr>
              <a:t>1</a:t>
            </a:r>
            <a:r>
              <a:rPr sz="5200" b="1">
                <a:solidFill>
                  <a:srgbClr val="3B4E52"/>
                </a:solidFill>
                <a:latin typeface="Arial Narrow"/>
              </a:rPr>
              <a:t>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3413" y="3461004"/>
            <a:ext cx="33567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LARGEST USER, WORLDWIDE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3413" y="3973068"/>
            <a:ext cx="3173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B4E52"/>
                </a:solidFill>
                <a:latin typeface="Palatino Linotype"/>
              </a:rPr>
              <a:t>India extracts more groundwater than any other nation.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53" y="4978908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50" b="0">
                <a:solidFill>
                  <a:srgbClr val="3B4E52"/>
                </a:solidFill>
                <a:latin typeface="Palatino Linotype"/>
              </a:rPr>
              <a:t>The resource is invisible, so it is managed </a:t>
            </a:r>
            <a:r>
              <a:rPr sz="1550" b="1">
                <a:solidFill>
                  <a:srgbClr val="0E1C20"/>
                </a:solidFill>
                <a:latin typeface="Palatino Linotype"/>
              </a:rPr>
              <a:t>reactively</a:t>
            </a:r>
            <a:r>
              <a:rPr sz="1550" b="0">
                <a:solidFill>
                  <a:srgbClr val="3B4E52"/>
                </a:solidFill>
                <a:latin typeface="Palatino Linotype"/>
              </a:rPr>
              <a:t>. A district usually learns its water table has fallen only after wells begin to fail.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02" cy="685800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486" y="0"/>
            <a:ext cx="7315" cy="6858000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6434" y="548640"/>
            <a:ext cx="7315" cy="5829300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0" y="5486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48006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" y="171450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164592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0" y="288036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" y="281177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0" y="404622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397763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0" y="521208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" y="514350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" y="63779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" y="630935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50</a:t>
            </a:r>
          </a:p>
        </p:txBody>
      </p:sp>
      <p:sp>
        <p:nvSpPr>
          <p:cNvPr id="18" name="Oval 17"/>
          <p:cNvSpPr/>
          <p:nvPr/>
        </p:nvSpPr>
        <p:spPr>
          <a:xfrm>
            <a:off x="436462" y="1222250"/>
            <a:ext cx="207258" cy="207258"/>
          </a:xfrm>
          <a:prstGeom prst="ellipse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473952"/>
            <a:ext cx="8778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spc="120">
                <a:solidFill>
                  <a:srgbClr val="6C7D80"/>
                </a:solidFill>
                <a:latin typeface="Consolas"/>
              </a:rPr>
              <a:t>mbgl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53" y="1062989"/>
            <a:ext cx="10070340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113" y="64373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00">
                <a:solidFill>
                  <a:srgbClr val="6C7D80"/>
                </a:solidFill>
                <a:latin typeface="Consolas"/>
              </a:rPr>
              <a:t>JALDRISHTI</a:t>
            </a:r>
            <a:r>
              <a:rPr sz="800" b="0" spc="100">
                <a:solidFill>
                  <a:srgbClr val="6C7D80"/>
                </a:solidFill>
                <a:latin typeface="Consolas"/>
              </a:rPr>
              <a:t>     03 /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7883"/>
            <a:ext cx="12191695" cy="20116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37883"/>
            <a:ext cx="1625559" cy="20116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9853" y="502920"/>
            <a:ext cx="1007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200">
                <a:solidFill>
                  <a:srgbClr val="0A5563"/>
                </a:solidFill>
                <a:latin typeface="Consolas"/>
              </a:rPr>
              <a:t>THE PROBLEM  </a:t>
            </a:r>
            <a:r>
              <a:rPr sz="900" b="0" spc="200">
                <a:solidFill>
                  <a:srgbClr val="6C7D80"/>
                </a:solidFill>
                <a:latin typeface="Consolas"/>
              </a:rPr>
              <a:t>/ THE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53" y="1303020"/>
            <a:ext cx="100703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THE MEASUREMENTS EXIST.</a:t>
            </a:r>
          </a:p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THEY JUST CAN'T BE READ.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53" y="2738628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50" b="0">
                <a:solidFill>
                  <a:srgbClr val="3B4E52"/>
                </a:solidFill>
                <a:latin typeface="Palatino Linotype"/>
              </a:rPr>
              <a:t>The Central Ground Water Board monitors a national network of observation wells and publishes every reading, every year — as hundreds of pages of tabulated PDF.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89853" y="3718306"/>
            <a:ext cx="134108" cy="10972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21495" y="3572002"/>
            <a:ext cx="9838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60" b="0">
                <a:solidFill>
                  <a:srgbClr val="3B4E52"/>
                </a:solidFill>
                <a:latin typeface="Palatino Linotype"/>
              </a:rPr>
              <a:t>A PDF table cannot be </a:t>
            </a:r>
            <a:r>
              <a:rPr sz="1360" b="1">
                <a:solidFill>
                  <a:srgbClr val="0E1C20"/>
                </a:solidFill>
                <a:latin typeface="Palatino Linotype"/>
              </a:rPr>
              <a:t>queried</a:t>
            </a:r>
            <a:r>
              <a:rPr sz="1360" b="0">
                <a:solidFill>
                  <a:srgbClr val="3B4E52"/>
                </a:solidFill>
                <a:latin typeface="Palatino Linotype"/>
              </a:rPr>
              <a:t>, ranked, or joined to anything else.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89853" y="4193794"/>
            <a:ext cx="134108" cy="10972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21495" y="4047490"/>
            <a:ext cx="9838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60" b="0">
                <a:solidFill>
                  <a:srgbClr val="3B4E52"/>
                </a:solidFill>
                <a:latin typeface="Palatino Linotype"/>
              </a:rPr>
              <a:t>Nothing in the document </a:t>
            </a:r>
            <a:r>
              <a:rPr sz="1360" b="1">
                <a:solidFill>
                  <a:srgbClr val="0E1C20"/>
                </a:solidFill>
                <a:latin typeface="Palatino Linotype"/>
              </a:rPr>
              <a:t>compares</a:t>
            </a:r>
            <a:r>
              <a:rPr sz="1360" b="0">
                <a:solidFill>
                  <a:srgbClr val="3B4E52"/>
                </a:solidFill>
                <a:latin typeface="Palatino Linotype"/>
              </a:rPr>
              <a:t> one region against another.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89853" y="4669282"/>
            <a:ext cx="134108" cy="10972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1495" y="4522978"/>
            <a:ext cx="9838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60" b="0">
                <a:solidFill>
                  <a:srgbClr val="3B4E52"/>
                </a:solidFill>
                <a:latin typeface="Palatino Linotype"/>
              </a:rPr>
              <a:t>Nothing in it looks </a:t>
            </a:r>
            <a:r>
              <a:rPr sz="1360" b="1">
                <a:solidFill>
                  <a:srgbClr val="0E1C20"/>
                </a:solidFill>
                <a:latin typeface="Palatino Linotype"/>
              </a:rPr>
              <a:t>forward</a:t>
            </a:r>
            <a:r>
              <a:rPr sz="1360" b="0">
                <a:solidFill>
                  <a:srgbClr val="3B4E52"/>
                </a:solidFill>
                <a:latin typeface="Palatino Linotype"/>
              </a:rPr>
              <a:t> — there is no station-level forecast.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89853" y="5144770"/>
            <a:ext cx="134108" cy="10972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1495" y="4998466"/>
            <a:ext cx="9838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60" b="0">
                <a:solidFill>
                  <a:srgbClr val="3B4E52"/>
                </a:solidFill>
                <a:latin typeface="Palatino Linotype"/>
              </a:rPr>
              <a:t>The raw depth figure isn't comparable: 10 m is routine in one aquifer and alarming in the next.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02" cy="685800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486" y="0"/>
            <a:ext cx="7315" cy="6858000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6434" y="548640"/>
            <a:ext cx="7315" cy="5829300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0" y="5486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48006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" y="171450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164592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0" y="288036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" y="281177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0" y="404622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397763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0" y="521208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" y="514350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" y="63779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" y="630935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50</a:t>
            </a:r>
          </a:p>
        </p:txBody>
      </p:sp>
      <p:sp>
        <p:nvSpPr>
          <p:cNvPr id="18" name="Oval 17"/>
          <p:cNvSpPr/>
          <p:nvPr/>
        </p:nvSpPr>
        <p:spPr>
          <a:xfrm>
            <a:off x="436462" y="1610870"/>
            <a:ext cx="207258" cy="207258"/>
          </a:xfrm>
          <a:prstGeom prst="ellipse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473952"/>
            <a:ext cx="8778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spc="120">
                <a:solidFill>
                  <a:srgbClr val="6C7D80"/>
                </a:solidFill>
                <a:latin typeface="Consolas"/>
              </a:rPr>
              <a:t>mbgl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53" y="1062989"/>
            <a:ext cx="10070340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113" y="64373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00">
                <a:solidFill>
                  <a:srgbClr val="6C7D80"/>
                </a:solidFill>
                <a:latin typeface="Consolas"/>
              </a:rPr>
              <a:t>JALDRISHTI</a:t>
            </a:r>
            <a:r>
              <a:rPr sz="800" b="0" spc="100">
                <a:solidFill>
                  <a:srgbClr val="6C7D80"/>
                </a:solidFill>
                <a:latin typeface="Consolas"/>
              </a:rPr>
              <a:t>     04 /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7883"/>
            <a:ext cx="12191695" cy="20116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37883"/>
            <a:ext cx="2438339" cy="20116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9853" y="502920"/>
            <a:ext cx="1007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200">
                <a:solidFill>
                  <a:srgbClr val="0A5563"/>
                </a:solidFill>
                <a:latin typeface="Consolas"/>
              </a:rPr>
              <a:t>THE SYSTEM  </a:t>
            </a:r>
            <a:r>
              <a:rPr sz="900" b="0" spc="200">
                <a:solidFill>
                  <a:srgbClr val="6C7D80"/>
                </a:solidFill>
                <a:latin typeface="Consolas"/>
              </a:rPr>
              <a:t>/ FIVE LAYERS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53" y="1303020"/>
            <a:ext cx="100703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FROM PUBLISHED PDF</a:t>
            </a:r>
          </a:p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TO A DECISION SURFACE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89853" y="2784348"/>
            <a:ext cx="1911655" cy="196596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89853" y="2784348"/>
            <a:ext cx="1911655" cy="32004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99581" y="2948940"/>
            <a:ext cx="16921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160">
                <a:solidFill>
                  <a:srgbClr val="0A5563"/>
                </a:solidFill>
                <a:latin typeface="Consolas"/>
              </a:rPr>
              <a:t>LAYER 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9581" y="3168396"/>
            <a:ext cx="16921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1C20"/>
                </a:solidFill>
                <a:latin typeface="Arial Narrow"/>
              </a:rPr>
              <a:t>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99581" y="3625596"/>
            <a:ext cx="1692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00" b="0">
                <a:solidFill>
                  <a:srgbClr val="3B4E52"/>
                </a:solidFill>
                <a:latin typeface="Palatino Linotype"/>
              </a:rPr>
              <a:t>Batch table extraction from the source report, with generated station identifiers.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99581" y="4485132"/>
            <a:ext cx="1692199" cy="7315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99581" y="4558284"/>
            <a:ext cx="16921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C7D80"/>
                </a:solidFill>
                <a:latin typeface="Consolas"/>
              </a:rPr>
              <a:t>→ raw records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29524" y="2784348"/>
            <a:ext cx="1911655" cy="196596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29524" y="2784348"/>
            <a:ext cx="1911655" cy="32004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39252" y="2948940"/>
            <a:ext cx="16921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160">
                <a:solidFill>
                  <a:srgbClr val="0A5563"/>
                </a:solidFill>
                <a:latin typeface="Consolas"/>
              </a:rPr>
              <a:t>LAYER 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9252" y="3168396"/>
            <a:ext cx="16921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1C20"/>
                </a:solidFill>
                <a:latin typeface="Arial Narrow"/>
              </a:rPr>
              <a:t>PREPARATION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9252" y="3625596"/>
            <a:ext cx="1692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00" b="0">
                <a:solidFill>
                  <a:srgbClr val="3B4E52"/>
                </a:solidFill>
                <a:latin typeface="Palatino Linotype"/>
              </a:rPr>
              <a:t>Cleaning, quality control, and a per-station historical baseline.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39252" y="4485132"/>
            <a:ext cx="1692199" cy="7315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39252" y="4558284"/>
            <a:ext cx="16921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C7D80"/>
                </a:solidFill>
                <a:latin typeface="Consolas"/>
              </a:rPr>
              <a:t>→ clean set + baselines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69195" y="2784348"/>
            <a:ext cx="1911655" cy="196596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69195" y="2784348"/>
            <a:ext cx="1911655" cy="32004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8923" y="2948940"/>
            <a:ext cx="16921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160">
                <a:solidFill>
                  <a:srgbClr val="0A5563"/>
                </a:solidFill>
                <a:latin typeface="Consolas"/>
              </a:rPr>
              <a:t>LAYER 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8923" y="3168396"/>
            <a:ext cx="16921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1C20"/>
                </a:solidFill>
                <a:latin typeface="Arial Narrow"/>
              </a:rPr>
              <a:t>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8923" y="3625596"/>
            <a:ext cx="1692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00" b="0">
                <a:solidFill>
                  <a:srgbClr val="3B4E52"/>
                </a:solidFill>
                <a:latin typeface="Palatino Linotype"/>
              </a:rPr>
              <a:t>The GAVI score, then a prioritised alert engine over score and trend.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8923" y="4485132"/>
            <a:ext cx="1692199" cy="7315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8923" y="4558284"/>
            <a:ext cx="16921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C7D80"/>
                </a:solidFill>
                <a:latin typeface="Consolas"/>
              </a:rPr>
              <a:t>→ scored + alerted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08866" y="2784348"/>
            <a:ext cx="1911655" cy="196596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508866" y="2784348"/>
            <a:ext cx="1911655" cy="32004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18594" y="2948940"/>
            <a:ext cx="16921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160">
                <a:solidFill>
                  <a:srgbClr val="0A5563"/>
                </a:solidFill>
                <a:latin typeface="Consolas"/>
              </a:rPr>
              <a:t>LAYER 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8594" y="3168396"/>
            <a:ext cx="16921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1C20"/>
                </a:solidFill>
                <a:latin typeface="Arial Narrow"/>
              </a:rPr>
              <a:t>FORECASTING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18594" y="3625596"/>
            <a:ext cx="1692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00" b="0">
                <a:solidFill>
                  <a:srgbClr val="3B4E52"/>
                </a:solidFill>
                <a:latin typeface="Palatino Linotype"/>
              </a:rPr>
              <a:t>One- and three-year projections per station, converted back into scores.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18594" y="4485132"/>
            <a:ext cx="1692199" cy="7315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18594" y="4558284"/>
            <a:ext cx="16921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C7D80"/>
                </a:solidFill>
                <a:latin typeface="Consolas"/>
              </a:rPr>
              <a:t>→ forward alerts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48538" y="2784348"/>
            <a:ext cx="1911655" cy="196596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548538" y="2784348"/>
            <a:ext cx="1911655" cy="32004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58266" y="2948940"/>
            <a:ext cx="16921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spc="160">
                <a:solidFill>
                  <a:srgbClr val="0A5563"/>
                </a:solidFill>
                <a:latin typeface="Consolas"/>
              </a:rPr>
              <a:t>LAYER 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58266" y="3168396"/>
            <a:ext cx="16921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1C20"/>
                </a:solidFill>
                <a:latin typeface="Arial Narrow"/>
              </a:rPr>
              <a:t>PRESENTATION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58266" y="3625596"/>
            <a:ext cx="1692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00" b="0">
                <a:solidFill>
                  <a:srgbClr val="3B4E52"/>
                </a:solidFill>
                <a:latin typeface="Palatino Linotype"/>
              </a:rPr>
              <a:t>An interactive dashboard built for officials, not analysts.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58266" y="4485132"/>
            <a:ext cx="1692199" cy="7315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58266" y="4558284"/>
            <a:ext cx="16921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6C7D80"/>
                </a:solidFill>
                <a:latin typeface="Consolas"/>
              </a:rPr>
              <a:t>→ live dashboard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89853" y="4997196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50" b="0">
                <a:solidFill>
                  <a:srgbClr val="3B4E52"/>
                </a:solidFill>
                <a:latin typeface="Palatino Linotype"/>
              </a:rPr>
              <a:t>Each layer persists its own dataset, so any stage can be re-run and refined without repeating the expensive ones upstream.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02" cy="685800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486" y="0"/>
            <a:ext cx="7315" cy="6858000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6434" y="548640"/>
            <a:ext cx="7315" cy="5829300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0" y="5486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48006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" y="171450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164592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0" y="288036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" y="281177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0" y="404622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397763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0" y="521208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" y="514350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" y="63779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" y="630935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50</a:t>
            </a:r>
          </a:p>
        </p:txBody>
      </p:sp>
      <p:sp>
        <p:nvSpPr>
          <p:cNvPr id="18" name="Oval 17"/>
          <p:cNvSpPr/>
          <p:nvPr/>
        </p:nvSpPr>
        <p:spPr>
          <a:xfrm>
            <a:off x="436462" y="1999490"/>
            <a:ext cx="207258" cy="207258"/>
          </a:xfrm>
          <a:prstGeom prst="ellipse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473952"/>
            <a:ext cx="8778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spc="120">
                <a:solidFill>
                  <a:srgbClr val="6C7D80"/>
                </a:solidFill>
                <a:latin typeface="Consolas"/>
              </a:rPr>
              <a:t>mbgl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53" y="1062989"/>
            <a:ext cx="10070340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113" y="64373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00">
                <a:solidFill>
                  <a:srgbClr val="6C7D80"/>
                </a:solidFill>
                <a:latin typeface="Consolas"/>
              </a:rPr>
              <a:t>JALDRISHTI</a:t>
            </a:r>
            <a:r>
              <a:rPr sz="800" b="0" spc="100">
                <a:solidFill>
                  <a:srgbClr val="6C7D80"/>
                </a:solidFill>
                <a:latin typeface="Consolas"/>
              </a:rPr>
              <a:t>     05 /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7883"/>
            <a:ext cx="12191695" cy="20116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37883"/>
            <a:ext cx="3251118" cy="20116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9853" y="502920"/>
            <a:ext cx="1007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200">
                <a:solidFill>
                  <a:srgbClr val="0A5563"/>
                </a:solidFill>
                <a:latin typeface="Consolas"/>
              </a:rPr>
              <a:t>THE SYSTEM  </a:t>
            </a:r>
            <a:r>
              <a:rPr sz="900" b="0" spc="200">
                <a:solidFill>
                  <a:srgbClr val="6C7D80"/>
                </a:solidFill>
                <a:latin typeface="Consolas"/>
              </a:rPr>
              <a:t>/ WHAT WE ASSEMBLED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53" y="1303020"/>
            <a:ext cx="100703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A DECADE OF READINGS,</a:t>
            </a:r>
          </a:p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MADE QUERYABLE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53" y="2830068"/>
            <a:ext cx="251758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>
                <a:solidFill>
                  <a:srgbClr val="0E6E7D"/>
                </a:solidFill>
                <a:latin typeface="Arial Narrow"/>
              </a:rPr>
              <a:t>86,912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53" y="3488436"/>
            <a:ext cx="251758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OBSERVATIONS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07438" y="2830068"/>
            <a:ext cx="251758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>
                <a:solidFill>
                  <a:srgbClr val="0E6E7D"/>
                </a:solidFill>
                <a:latin typeface="Arial Narrow"/>
              </a:rPr>
              <a:t>9,545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07438" y="3488436"/>
            <a:ext cx="251758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MONITORING STATIONS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5023" y="2830068"/>
            <a:ext cx="251758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>
                <a:solidFill>
                  <a:srgbClr val="0E6E7D"/>
                </a:solidFill>
                <a:latin typeface="Arial Narrow"/>
              </a:rPr>
              <a:t>713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5023" y="3488436"/>
            <a:ext cx="251758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DISTRICTS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42608" y="2830068"/>
            <a:ext cx="251758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>
                <a:solidFill>
                  <a:srgbClr val="0E6E7D"/>
                </a:solidFill>
                <a:latin typeface="Arial Narrow"/>
              </a:rPr>
              <a:t>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2608" y="3488436"/>
            <a:ext cx="251758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STATES &amp; 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53" y="4265676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50" b="0">
                <a:solidFill>
                  <a:srgbClr val="3B4E52"/>
                </a:solidFill>
                <a:latin typeface="Palatino Linotype"/>
              </a:rPr>
              <a:t>Covering </a:t>
            </a:r>
            <a:r>
              <a:rPr sz="1550" b="1">
                <a:solidFill>
                  <a:srgbClr val="0E1C20"/>
                </a:solidFill>
                <a:latin typeface="Palatino Linotype"/>
              </a:rPr>
              <a:t>2015 to 2024</a:t>
            </a:r>
            <a:r>
              <a:rPr sz="1550" b="0">
                <a:solidFill>
                  <a:srgbClr val="3B4E52"/>
                </a:solidFill>
                <a:latin typeface="Palatino Linotype"/>
              </a:rPr>
              <a:t>. January readings are used throughout, so every station is compared against itself at the same point in the annual recharge cycle — the seasonal swing is removed by construction, not by modelling.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02" cy="685800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486" y="0"/>
            <a:ext cx="7315" cy="6858000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6434" y="548640"/>
            <a:ext cx="7315" cy="5829300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0" y="5486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48006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" y="171450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164592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0" y="288036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" y="281177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0" y="404622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397763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0" y="521208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" y="514350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" y="63779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" y="630935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50</a:t>
            </a:r>
          </a:p>
        </p:txBody>
      </p:sp>
      <p:sp>
        <p:nvSpPr>
          <p:cNvPr id="18" name="Oval 17"/>
          <p:cNvSpPr/>
          <p:nvPr/>
        </p:nvSpPr>
        <p:spPr>
          <a:xfrm>
            <a:off x="436462" y="2388110"/>
            <a:ext cx="207258" cy="207258"/>
          </a:xfrm>
          <a:prstGeom prst="ellipse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473952"/>
            <a:ext cx="8778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spc="120">
                <a:solidFill>
                  <a:srgbClr val="6C7D80"/>
                </a:solidFill>
                <a:latin typeface="Consolas"/>
              </a:rPr>
              <a:t>mbgl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53" y="1062989"/>
            <a:ext cx="10070340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113" y="64373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00">
                <a:solidFill>
                  <a:srgbClr val="6C7D80"/>
                </a:solidFill>
                <a:latin typeface="Consolas"/>
              </a:rPr>
              <a:t>JALDRISHTI</a:t>
            </a:r>
            <a:r>
              <a:rPr sz="800" b="0" spc="100">
                <a:solidFill>
                  <a:srgbClr val="6C7D80"/>
                </a:solidFill>
                <a:latin typeface="Consolas"/>
              </a:rPr>
              <a:t>     06 /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7883"/>
            <a:ext cx="12191695" cy="20116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37883"/>
            <a:ext cx="4063898" cy="20116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9853" y="502920"/>
            <a:ext cx="1007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200">
                <a:solidFill>
                  <a:srgbClr val="0A5563"/>
                </a:solidFill>
                <a:latin typeface="Consolas"/>
              </a:rPr>
              <a:t>THE INDEX  </a:t>
            </a:r>
            <a:r>
              <a:rPr sz="900" b="0" spc="200">
                <a:solidFill>
                  <a:srgbClr val="6C7D80"/>
                </a:solidFill>
                <a:latin typeface="Consolas"/>
              </a:rPr>
              <a:t>/ CORE CONTRIBUTION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53" y="1303020"/>
            <a:ext cx="100703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GAVI: ONE NUMBER</a:t>
            </a:r>
          </a:p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THAT TRAVELS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89853" y="2766060"/>
            <a:ext cx="10070340" cy="841248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89853" y="2766060"/>
            <a:ext cx="41148" cy="841248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00749" y="3076956"/>
            <a:ext cx="95217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E1C20"/>
                </a:solidFill>
                <a:latin typeface="Consolas"/>
              </a:rPr>
              <a:t>GAVI = 100 × [ 1 − ( </a:t>
            </a:r>
            <a:r>
              <a:rPr sz="1650" b="0">
                <a:solidFill>
                  <a:srgbClr val="0A5563"/>
                </a:solidFill>
                <a:latin typeface="Consolas"/>
              </a:rPr>
              <a:t>WL_current</a:t>
            </a:r>
            <a:r>
              <a:rPr sz="1650" b="0">
                <a:solidFill>
                  <a:srgbClr val="0E1C20"/>
                </a:solidFill>
                <a:latin typeface="Consolas"/>
              </a:rPr>
              <a:t> − </a:t>
            </a:r>
            <a:r>
              <a:rPr sz="1650" b="0">
                <a:solidFill>
                  <a:srgbClr val="0A5563"/>
                </a:solidFill>
                <a:latin typeface="Consolas"/>
              </a:rPr>
              <a:t>WL_min</a:t>
            </a:r>
            <a:r>
              <a:rPr sz="1650" b="0">
                <a:solidFill>
                  <a:srgbClr val="0E1C20"/>
                </a:solidFill>
                <a:latin typeface="Consolas"/>
              </a:rPr>
              <a:t> ) ÷ ( </a:t>
            </a:r>
            <a:r>
              <a:rPr sz="1650" b="0">
                <a:solidFill>
                  <a:srgbClr val="0A5563"/>
                </a:solidFill>
                <a:latin typeface="Consolas"/>
              </a:rPr>
              <a:t>WL_max</a:t>
            </a:r>
            <a:r>
              <a:rPr sz="1650" b="0">
                <a:solidFill>
                  <a:srgbClr val="0E1C20"/>
                </a:solidFill>
                <a:latin typeface="Consolas"/>
              </a:rPr>
              <a:t> − </a:t>
            </a:r>
            <a:r>
              <a:rPr sz="1650" b="0">
                <a:solidFill>
                  <a:srgbClr val="0A5563"/>
                </a:solidFill>
                <a:latin typeface="Consolas"/>
              </a:rPr>
              <a:t>WL_min</a:t>
            </a:r>
            <a:r>
              <a:rPr sz="1650" b="0">
                <a:solidFill>
                  <a:srgbClr val="0E1C20"/>
                </a:solidFill>
                <a:latin typeface="Consolas"/>
              </a:rPr>
              <a:t> )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53" y="3808476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50" b="0">
                <a:solidFill>
                  <a:srgbClr val="3B4E52"/>
                </a:solidFill>
                <a:latin typeface="Palatino Linotype"/>
              </a:rPr>
              <a:t>Each station is rescaled against </a:t>
            </a:r>
            <a:r>
              <a:rPr sz="1550" b="1">
                <a:solidFill>
                  <a:srgbClr val="0E1C20"/>
                </a:solidFill>
                <a:latin typeface="Palatino Linotype"/>
              </a:rPr>
              <a:t>its own historical extremes</a:t>
            </a:r>
            <a:r>
              <a:rPr sz="1550" b="0">
                <a:solidFill>
                  <a:srgbClr val="3B4E52"/>
                </a:solidFill>
                <a:latin typeface="Palatino Linotype"/>
              </a:rPr>
              <a:t>. 100 is that station at its best on record; 0 is its worst.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53" y="4605273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50" b="0">
                <a:solidFill>
                  <a:srgbClr val="3B4E52"/>
                </a:solidFill>
                <a:latin typeface="Palatino Linotype"/>
              </a:rPr>
              <a:t>Because the normalisation is station-specific, local geology and aquifer type are absorbed into the baseline — which is what makes a score of 30 in Rajasthan mean the same thing as a score of 30 in Odisha.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02" cy="685800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486" y="0"/>
            <a:ext cx="7315" cy="6858000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6434" y="548640"/>
            <a:ext cx="7315" cy="5829300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0" y="5486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48006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" y="171450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164592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0" y="288036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" y="281177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0" y="404622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397763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0" y="521208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" y="514350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" y="63779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" y="630935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50</a:t>
            </a:r>
          </a:p>
        </p:txBody>
      </p:sp>
      <p:sp>
        <p:nvSpPr>
          <p:cNvPr id="18" name="Oval 17"/>
          <p:cNvSpPr/>
          <p:nvPr/>
        </p:nvSpPr>
        <p:spPr>
          <a:xfrm>
            <a:off x="436462" y="2776730"/>
            <a:ext cx="207258" cy="207258"/>
          </a:xfrm>
          <a:prstGeom prst="ellipse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473952"/>
            <a:ext cx="8778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spc="120">
                <a:solidFill>
                  <a:srgbClr val="6C7D80"/>
                </a:solidFill>
                <a:latin typeface="Consolas"/>
              </a:rPr>
              <a:t>mbgl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53" y="1062989"/>
            <a:ext cx="10070340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113" y="64373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00">
                <a:solidFill>
                  <a:srgbClr val="6C7D80"/>
                </a:solidFill>
                <a:latin typeface="Consolas"/>
              </a:rPr>
              <a:t>JALDRISHTI</a:t>
            </a:r>
            <a:r>
              <a:rPr sz="800" b="0" spc="100">
                <a:solidFill>
                  <a:srgbClr val="6C7D80"/>
                </a:solidFill>
                <a:latin typeface="Consolas"/>
              </a:rPr>
              <a:t>     07 /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7883"/>
            <a:ext cx="12191695" cy="20116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37883"/>
            <a:ext cx="4876678" cy="20116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9853" y="502920"/>
            <a:ext cx="1007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200">
                <a:solidFill>
                  <a:srgbClr val="0A5563"/>
                </a:solidFill>
                <a:latin typeface="Consolas"/>
              </a:rPr>
              <a:t>THE INDEX  </a:t>
            </a:r>
            <a:r>
              <a:rPr sz="900" b="0" spc="200">
                <a:solidFill>
                  <a:srgbClr val="6C7D80"/>
                </a:solidFill>
                <a:latin typeface="Consolas"/>
              </a:rPr>
              <a:t>/ SCORE TO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53" y="1303020"/>
            <a:ext cx="100703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EVERY BAND NAMES</a:t>
            </a:r>
          </a:p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A DECISION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89853" y="2912364"/>
            <a:ext cx="109728" cy="109728"/>
          </a:xfrm>
          <a:prstGeom prst="rect">
            <a:avLst/>
          </a:prstGeom>
          <a:solidFill>
            <a:srgbClr val="2E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82461" y="2802636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2E8B62"/>
                </a:solidFill>
                <a:latin typeface="Arial Narrow"/>
              </a:rPr>
              <a:t>SAFE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653" y="284835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3B4E52"/>
                </a:solidFill>
                <a:latin typeface="Consolas"/>
              </a:rPr>
              <a:t>75 – 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13" y="2830068"/>
            <a:ext cx="69613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B4E52"/>
                </a:solidFill>
                <a:latin typeface="Palatino Linotype"/>
              </a:rPr>
              <a:t>Good availability. Continue routine monitoring.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89853" y="3223260"/>
            <a:ext cx="10070340" cy="7315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89853" y="3479292"/>
            <a:ext cx="109728" cy="109728"/>
          </a:xfrm>
          <a:prstGeom prst="rect">
            <a:avLst/>
          </a:prstGeom>
          <a:solidFill>
            <a:srgbClr val="E0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82461" y="3369564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E0A81C"/>
                </a:solidFill>
                <a:latin typeface="Arial Narrow"/>
              </a:rPr>
              <a:t>WATCH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653" y="341528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3B4E52"/>
                </a:solidFill>
                <a:latin typeface="Consolas"/>
              </a:rPr>
              <a:t>50 – 74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13" y="3396996"/>
            <a:ext cx="69613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B4E52"/>
                </a:solidFill>
                <a:latin typeface="Palatino Linotype"/>
              </a:rPr>
              <a:t>Moderate stress developing. Increase observation frequency.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89853" y="3790188"/>
            <a:ext cx="10070340" cy="7315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89853" y="4046220"/>
            <a:ext cx="109728" cy="109728"/>
          </a:xfrm>
          <a:prstGeom prst="rect">
            <a:avLst/>
          </a:prstGeom>
          <a:solidFill>
            <a:srgbClr val="C2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82461" y="393649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C2521A"/>
                </a:solidFill>
                <a:latin typeface="Arial Narrow"/>
              </a:rPr>
              <a:t>STRESSED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18653" y="39822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3B4E52"/>
                </a:solidFill>
                <a:latin typeface="Consolas"/>
              </a:rPr>
              <a:t>25 – 49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13" y="3963924"/>
            <a:ext cx="69613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B4E52"/>
                </a:solidFill>
                <a:latin typeface="Palatino Linotype"/>
              </a:rPr>
              <a:t>Significant depletion. Regulate demand and plan recharge.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89853" y="4357116"/>
            <a:ext cx="10070340" cy="7315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389853" y="4613148"/>
            <a:ext cx="109728" cy="109728"/>
          </a:xfrm>
          <a:prstGeom prst="rect">
            <a:avLst/>
          </a:prstGeom>
          <a:solidFill>
            <a:srgbClr val="8E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82461" y="45034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>
                <a:solidFill>
                  <a:srgbClr val="8E1F3F"/>
                </a:solidFill>
                <a:latin typeface="Arial Narrow"/>
              </a:rPr>
              <a:t>CRITICAL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18653" y="45491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3B4E52"/>
                </a:solidFill>
                <a:latin typeface="Consolas"/>
              </a:rPr>
              <a:t>0 – 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98813" y="4530852"/>
            <a:ext cx="69613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B4E52"/>
                </a:solidFill>
                <a:latin typeface="Palatino Linotype"/>
              </a:rPr>
              <a:t>Severe deficit. Emergency intervention and extraction control.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89853" y="4924044"/>
            <a:ext cx="10070340" cy="7315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89853" y="5198364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50" b="0">
                <a:solidFill>
                  <a:srgbClr val="3B4E52"/>
                </a:solidFill>
                <a:latin typeface="Palatino Linotype"/>
              </a:rPr>
              <a:t>A district officer reads a category and an action — never a hydrological unit.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02" cy="685800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486" y="0"/>
            <a:ext cx="7315" cy="6858000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6434" y="548640"/>
            <a:ext cx="7315" cy="5829300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0" y="5486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48006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" y="171450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164592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0" y="288036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" y="281177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0" y="404622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397763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0" y="521208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" y="514350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" y="63779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" y="630935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50</a:t>
            </a:r>
          </a:p>
        </p:txBody>
      </p:sp>
      <p:sp>
        <p:nvSpPr>
          <p:cNvPr id="18" name="Oval 17"/>
          <p:cNvSpPr/>
          <p:nvPr/>
        </p:nvSpPr>
        <p:spPr>
          <a:xfrm>
            <a:off x="436462" y="3165350"/>
            <a:ext cx="207258" cy="207258"/>
          </a:xfrm>
          <a:prstGeom prst="ellipse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473952"/>
            <a:ext cx="8778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spc="120">
                <a:solidFill>
                  <a:srgbClr val="6C7D80"/>
                </a:solidFill>
                <a:latin typeface="Consolas"/>
              </a:rPr>
              <a:t>mbgl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53" y="1062989"/>
            <a:ext cx="10070340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113" y="64373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00">
                <a:solidFill>
                  <a:srgbClr val="6C7D80"/>
                </a:solidFill>
                <a:latin typeface="Consolas"/>
              </a:rPr>
              <a:t>JALDRISHTI</a:t>
            </a:r>
            <a:r>
              <a:rPr sz="800" b="0" spc="100">
                <a:solidFill>
                  <a:srgbClr val="6C7D80"/>
                </a:solidFill>
                <a:latin typeface="Consolas"/>
              </a:rPr>
              <a:t>     08 /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7883"/>
            <a:ext cx="12191695" cy="20116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37883"/>
            <a:ext cx="5689457" cy="20116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9853" y="502920"/>
            <a:ext cx="1007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200">
                <a:solidFill>
                  <a:srgbClr val="0A5563"/>
                </a:solidFill>
                <a:latin typeface="Consolas"/>
              </a:rPr>
              <a:t>ALERTS  </a:t>
            </a:r>
            <a:r>
              <a:rPr sz="900" b="0" spc="200">
                <a:solidFill>
                  <a:srgbClr val="6C7D80"/>
                </a:solidFill>
                <a:latin typeface="Consolas"/>
              </a:rPr>
              <a:t>/ RESOLVED BY PRIORITY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53" y="1303020"/>
            <a:ext cx="100703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ONE STATION,</a:t>
            </a:r>
          </a:p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ONE ALERT, ONE 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89853" y="2784348"/>
            <a:ext cx="10070340" cy="438912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89853" y="2784348"/>
            <a:ext cx="29260" cy="438912"/>
          </a:xfrm>
          <a:prstGeom prst="rect">
            <a:avLst/>
          </a:prstGeom>
          <a:solidFill>
            <a:srgbClr val="8E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91021" y="29215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C7D80"/>
                </a:solidFill>
                <a:latin typeface="Consolas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085" y="29123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E1F3F"/>
                </a:solidFill>
                <a:latin typeface="Consolas"/>
              </a:rPr>
              <a:t>CRITICAL_GROUNDWATER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7533" y="2912364"/>
            <a:ext cx="55897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B4E52"/>
                </a:solidFill>
                <a:latin typeface="Palatino Linotype"/>
              </a:rPr>
              <a:t>GAVI below 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89853" y="3268980"/>
            <a:ext cx="10070340" cy="438912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89853" y="3268980"/>
            <a:ext cx="29260" cy="438912"/>
          </a:xfrm>
          <a:prstGeom prst="rect">
            <a:avLst/>
          </a:prstGeom>
          <a:solidFill>
            <a:srgbClr val="C2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91021" y="34061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C7D80"/>
                </a:solidFill>
                <a:latin typeface="Consolas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085" y="33969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C2521A"/>
                </a:solidFill>
                <a:latin typeface="Consolas"/>
              </a:rPr>
              <a:t>DEPLETION_WARNING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7533" y="3396996"/>
            <a:ext cx="55897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B4E52"/>
                </a:solidFill>
                <a:latin typeface="Palatino Linotype"/>
              </a:rPr>
              <a:t>GAVI below 50 and the table is falling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89853" y="3753612"/>
            <a:ext cx="10070340" cy="438912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89853" y="3753612"/>
            <a:ext cx="29260" cy="438912"/>
          </a:xfrm>
          <a:prstGeom prst="rect">
            <a:avLst/>
          </a:prstGeom>
          <a:solidFill>
            <a:srgbClr val="E0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91021" y="38907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C7D80"/>
                </a:solidFill>
                <a:latin typeface="Consolas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085" y="38816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0A81C"/>
                </a:solidFill>
                <a:latin typeface="Consolas"/>
              </a:rPr>
              <a:t>SUDDEN_DROP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87533" y="3881628"/>
            <a:ext cx="55897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B4E52"/>
                </a:solidFill>
                <a:latin typeface="Palatino Linotype"/>
              </a:rPr>
              <a:t>Level falls 2.0 m or more in one year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89853" y="4238244"/>
            <a:ext cx="10070340" cy="438912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389853" y="4238244"/>
            <a:ext cx="29260" cy="438912"/>
          </a:xfrm>
          <a:prstGeom prst="rect">
            <a:avLst/>
          </a:prstGeom>
          <a:solidFill>
            <a:srgbClr val="2E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91021" y="437540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C7D80"/>
                </a:solidFill>
                <a:latin typeface="Consolas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085" y="43662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E8B62"/>
                </a:solidFill>
                <a:latin typeface="Consolas"/>
              </a:rPr>
              <a:t>RECOVERY_SIGNAL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87533" y="4366260"/>
            <a:ext cx="55897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B4E52"/>
                </a:solidFill>
                <a:latin typeface="Palatino Linotype"/>
              </a:rPr>
              <a:t>Level rises 1.0 m or more in one year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89853" y="4722876"/>
            <a:ext cx="10070340" cy="438912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389853" y="4722876"/>
            <a:ext cx="29260" cy="438912"/>
          </a:xfrm>
          <a:prstGeom prst="rect">
            <a:avLst/>
          </a:prstGeom>
          <a:solidFill>
            <a:srgbClr val="6C7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91021" y="486003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C7D80"/>
                </a:solidFill>
                <a:latin typeface="Consolas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085" y="48508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C7D80"/>
                </a:solidFill>
                <a:latin typeface="Consolas"/>
              </a:rPr>
              <a:t>NORMAL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87533" y="4850892"/>
            <a:ext cx="55897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B4E52"/>
                </a:solidFill>
                <a:latin typeface="Palatino Linotype"/>
              </a:rPr>
              <a:t>No rule satisfied; routine monitoring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89853" y="5298948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50" b="0">
                <a:solidFill>
                  <a:srgbClr val="3B4E52"/>
                </a:solidFill>
                <a:latin typeface="Palatino Linotype"/>
              </a:rPr>
              <a:t>The ladder is strictly ordered — severity always outranks trend, so no station can carry contradictory signals.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02" cy="685800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486" y="0"/>
            <a:ext cx="7315" cy="6858000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6434" y="548640"/>
            <a:ext cx="7315" cy="5829300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0" y="5486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48006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" y="171450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164592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0" y="288036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" y="281177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0" y="404622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397763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0" y="521208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" y="514350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" y="63779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" y="630935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50</a:t>
            </a:r>
          </a:p>
        </p:txBody>
      </p:sp>
      <p:sp>
        <p:nvSpPr>
          <p:cNvPr id="18" name="Oval 17"/>
          <p:cNvSpPr/>
          <p:nvPr/>
        </p:nvSpPr>
        <p:spPr>
          <a:xfrm>
            <a:off x="436462" y="3553970"/>
            <a:ext cx="207258" cy="207258"/>
          </a:xfrm>
          <a:prstGeom prst="ellipse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473952"/>
            <a:ext cx="8778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spc="120">
                <a:solidFill>
                  <a:srgbClr val="6C7D80"/>
                </a:solidFill>
                <a:latin typeface="Consolas"/>
              </a:rPr>
              <a:t>mbgl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53" y="1062989"/>
            <a:ext cx="10070340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113" y="64373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00">
                <a:solidFill>
                  <a:srgbClr val="6C7D80"/>
                </a:solidFill>
                <a:latin typeface="Consolas"/>
              </a:rPr>
              <a:t>JALDRISHTI</a:t>
            </a:r>
            <a:r>
              <a:rPr sz="800" b="0" spc="100">
                <a:solidFill>
                  <a:srgbClr val="6C7D80"/>
                </a:solidFill>
                <a:latin typeface="Consolas"/>
              </a:rPr>
              <a:t>     09 /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7883"/>
            <a:ext cx="12191695" cy="20116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37883"/>
            <a:ext cx="6502237" cy="20116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9853" y="502920"/>
            <a:ext cx="1007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200">
                <a:solidFill>
                  <a:srgbClr val="0A5563"/>
                </a:solidFill>
                <a:latin typeface="Consolas"/>
              </a:rPr>
              <a:t>ALERTS  </a:t>
            </a:r>
            <a:r>
              <a:rPr sz="900" b="0" spc="200">
                <a:solidFill>
                  <a:srgbClr val="6C7D80"/>
                </a:solidFill>
                <a:latin typeface="Consolas"/>
              </a:rPr>
              <a:t>/ TRUST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53" y="1303020"/>
            <a:ext cx="100703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AN ALERT NOBODY</a:t>
            </a:r>
          </a:p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BELIEVES IS WORTHLESS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53" y="2738628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50" b="0">
                <a:solidFill>
                  <a:srgbClr val="3B4E52"/>
                </a:solidFill>
                <a:latin typeface="Palatino Linotype"/>
              </a:rPr>
              <a:t>A single bad reading — a faulty gauge, one anomalous season — must not put a district into emergency response. Two filters stand between the data and the siren: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53" y="3663442"/>
            <a:ext cx="503517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>
                <a:solidFill>
                  <a:srgbClr val="0E6E7D"/>
                </a:solidFill>
                <a:latin typeface="Arial Narrow"/>
              </a:rPr>
              <a:t>2</a:t>
            </a:r>
            <a:r>
              <a:rPr sz="5200" b="1">
                <a:solidFill>
                  <a:srgbClr val="3B4E52"/>
                </a:solidFill>
                <a:latin typeface="Arial Narrow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53" y="4321810"/>
            <a:ext cx="503517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PERSISTENCE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53" y="4833874"/>
            <a:ext cx="485229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B4E52"/>
                </a:solidFill>
                <a:latin typeface="Palatino Linotype"/>
              </a:rPr>
              <a:t>A critical alert must appear in two or more consecutive observations before it is treated as confirmed.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5023" y="3663442"/>
            <a:ext cx="503517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>
                <a:solidFill>
                  <a:srgbClr val="0E6E7D"/>
                </a:solidFill>
                <a:latin typeface="Arial Narrow"/>
              </a:rPr>
              <a:t>3</a:t>
            </a:r>
            <a:r>
              <a:rPr sz="5200" b="1">
                <a:solidFill>
                  <a:srgbClr val="3B4E52"/>
                </a:solidFill>
                <a:latin typeface="Arial Narrow"/>
              </a:rPr>
              <a:t>obs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5023" y="4321810"/>
            <a:ext cx="503517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ROLLING WINDOW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5023" y="4833874"/>
            <a:ext cx="485229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B4E52"/>
                </a:solidFill>
                <a:latin typeface="Palatino Linotype"/>
              </a:rPr>
              <a:t>A three-observation window smooths transient spikes so measurement noise cannot trigger a response.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02" cy="685800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486" y="0"/>
            <a:ext cx="7315" cy="6858000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6434" y="548640"/>
            <a:ext cx="7315" cy="5829300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0" y="5486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48006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" y="171450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164592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0" y="288036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" y="281177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0" y="404622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397763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0" y="521208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" y="514350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" y="63779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" y="630935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50</a:t>
            </a:r>
          </a:p>
        </p:txBody>
      </p:sp>
      <p:sp>
        <p:nvSpPr>
          <p:cNvPr id="18" name="Oval 17"/>
          <p:cNvSpPr/>
          <p:nvPr/>
        </p:nvSpPr>
        <p:spPr>
          <a:xfrm>
            <a:off x="436462" y="3942590"/>
            <a:ext cx="207258" cy="207258"/>
          </a:xfrm>
          <a:prstGeom prst="ellipse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473952"/>
            <a:ext cx="8778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spc="120">
                <a:solidFill>
                  <a:srgbClr val="6C7D80"/>
                </a:solidFill>
                <a:latin typeface="Consolas"/>
              </a:rPr>
              <a:t>mbgl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53" y="1062989"/>
            <a:ext cx="10070340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113" y="64373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00">
                <a:solidFill>
                  <a:srgbClr val="6C7D80"/>
                </a:solidFill>
                <a:latin typeface="Consolas"/>
              </a:rPr>
              <a:t>JALDRISHTI</a:t>
            </a:r>
            <a:r>
              <a:rPr sz="800" b="0" spc="100">
                <a:solidFill>
                  <a:srgbClr val="6C7D80"/>
                </a:solidFill>
                <a:latin typeface="Consolas"/>
              </a:rPr>
              <a:t>     10 /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7883"/>
            <a:ext cx="12191695" cy="20116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37883"/>
            <a:ext cx="7315017" cy="20116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9853" y="502920"/>
            <a:ext cx="1007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200">
                <a:solidFill>
                  <a:srgbClr val="0A5563"/>
                </a:solidFill>
                <a:latin typeface="Consolas"/>
              </a:rPr>
              <a:t>FORECAST  </a:t>
            </a:r>
            <a:r>
              <a:rPr sz="900" b="0" spc="200">
                <a:solidFill>
                  <a:srgbClr val="6C7D80"/>
                </a:solidFill>
                <a:latin typeface="Consolas"/>
              </a:rPr>
              <a:t>/ THE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53" y="1303020"/>
            <a:ext cx="100703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DELIBERATELY SIMPLE,</a:t>
            </a:r>
          </a:p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ON PURPOSE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89853" y="2747772"/>
            <a:ext cx="10070340" cy="749808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89853" y="2747772"/>
            <a:ext cx="41148" cy="749808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00749" y="3003804"/>
            <a:ext cx="95217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0A5563"/>
                </a:solidFill>
                <a:latin typeface="Consolas"/>
              </a:rPr>
              <a:t>WL_future</a:t>
            </a:r>
            <a:r>
              <a:rPr sz="1650" b="0">
                <a:solidFill>
                  <a:srgbClr val="0E1C20"/>
                </a:solidFill>
                <a:latin typeface="Consolas"/>
              </a:rPr>
              <a:t> = </a:t>
            </a:r>
            <a:r>
              <a:rPr sz="1650" b="0">
                <a:solidFill>
                  <a:srgbClr val="0A5563"/>
                </a:solidFill>
                <a:latin typeface="Consolas"/>
              </a:rPr>
              <a:t>WL_last</a:t>
            </a:r>
            <a:r>
              <a:rPr sz="1650" b="0">
                <a:solidFill>
                  <a:srgbClr val="0E1C20"/>
                </a:solidFill>
                <a:latin typeface="Consolas"/>
              </a:rPr>
              <a:t> + mean historical </a:t>
            </a:r>
            <a:r>
              <a:rPr sz="1650" b="0">
                <a:solidFill>
                  <a:srgbClr val="0A5563"/>
                </a:solidFill>
                <a:latin typeface="Consolas"/>
              </a:rPr>
              <a:t>ΔWL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53" y="3698748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50" b="0">
                <a:solidFill>
                  <a:srgbClr val="3B4E52"/>
                </a:solidFill>
                <a:latin typeface="Palatino Linotype"/>
              </a:rPr>
              <a:t>Each station is projected at </a:t>
            </a:r>
            <a:r>
              <a:rPr sz="1550" b="1">
                <a:solidFill>
                  <a:srgbClr val="0E1C20"/>
                </a:solidFill>
                <a:latin typeface="Palatino Linotype"/>
              </a:rPr>
              <a:t>one-year</a:t>
            </a:r>
            <a:r>
              <a:rPr sz="1550" b="0">
                <a:solidFill>
                  <a:srgbClr val="3B4E52"/>
                </a:solidFill>
                <a:latin typeface="Palatino Linotype"/>
              </a:rPr>
              <a:t> and </a:t>
            </a:r>
            <a:r>
              <a:rPr sz="1550" b="1">
                <a:solidFill>
                  <a:srgbClr val="0E1C20"/>
                </a:solidFill>
                <a:latin typeface="Palatino Linotype"/>
              </a:rPr>
              <a:t>three-year</a:t>
            </a:r>
            <a:r>
              <a:rPr sz="1550" b="0">
                <a:solidFill>
                  <a:srgbClr val="3B4E52"/>
                </a:solidFill>
                <a:latin typeface="Palatino Linotype"/>
              </a:rPr>
              <a:t> horizons, clipped to the physically meaningful range of 0–50 mbgl, then converted back into a GAVI score against the same baseline.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53" y="4495545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50" b="0">
                <a:solidFill>
                  <a:srgbClr val="3B4E52"/>
                </a:solidFill>
                <a:latin typeface="Palatino Linotype"/>
              </a:rPr>
              <a:t>Two reasons the first model is a transparent trend and not a neural network: it can be </a:t>
            </a:r>
            <a:r>
              <a:rPr sz="1550" b="1">
                <a:solidFill>
                  <a:srgbClr val="0E1C20"/>
                </a:solidFill>
                <a:latin typeface="Palatino Linotype"/>
              </a:rPr>
              <a:t>explained to the official acting on it</a:t>
            </a:r>
            <a:r>
              <a:rPr sz="1550" b="0">
                <a:solidFill>
                  <a:srgbClr val="3B4E52"/>
                </a:solidFill>
                <a:latin typeface="Palatino Linotype"/>
              </a:rPr>
              <a:t>, and it sets the benchmark any machine-learning model has to beat to justify its opacity.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02" cy="685800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486" y="0"/>
            <a:ext cx="7315" cy="6858000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6434" y="548640"/>
            <a:ext cx="7315" cy="5829300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0" y="5486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48006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" y="171450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164592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0" y="288036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" y="281177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0" y="404622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397763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0" y="521208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" y="514350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" y="63779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" y="630935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50</a:t>
            </a:r>
          </a:p>
        </p:txBody>
      </p:sp>
      <p:sp>
        <p:nvSpPr>
          <p:cNvPr id="18" name="Oval 17"/>
          <p:cNvSpPr/>
          <p:nvPr/>
        </p:nvSpPr>
        <p:spPr>
          <a:xfrm>
            <a:off x="436462" y="4331210"/>
            <a:ext cx="207258" cy="207258"/>
          </a:xfrm>
          <a:prstGeom prst="ellipse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473952"/>
            <a:ext cx="8778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spc="120">
                <a:solidFill>
                  <a:srgbClr val="6C7D80"/>
                </a:solidFill>
                <a:latin typeface="Consolas"/>
              </a:rPr>
              <a:t>mbgl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53" y="1062989"/>
            <a:ext cx="10070340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113" y="64373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00">
                <a:solidFill>
                  <a:srgbClr val="6C7D80"/>
                </a:solidFill>
                <a:latin typeface="Consolas"/>
              </a:rPr>
              <a:t>JALDRISHTI</a:t>
            </a:r>
            <a:r>
              <a:rPr sz="800" b="0" spc="100">
                <a:solidFill>
                  <a:srgbClr val="6C7D80"/>
                </a:solidFill>
                <a:latin typeface="Consolas"/>
              </a:rPr>
              <a:t>     11 /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7883"/>
            <a:ext cx="12191695" cy="20116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37883"/>
            <a:ext cx="8127796" cy="20116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9853" y="502920"/>
            <a:ext cx="1007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200">
                <a:solidFill>
                  <a:srgbClr val="0A5563"/>
                </a:solidFill>
                <a:latin typeface="Consolas"/>
              </a:rPr>
              <a:t>FORECAST  </a:t>
            </a:r>
            <a:r>
              <a:rPr sz="900" b="0" spc="200">
                <a:solidFill>
                  <a:srgbClr val="6C7D80"/>
                </a:solidFill>
                <a:latin typeface="Consolas"/>
              </a:rPr>
              <a:t>/ BACKTESTED, NOT ASSERTED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53" y="1303020"/>
            <a:ext cx="100703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FIT ON 2015–2022.</a:t>
            </a:r>
          </a:p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PREDICT 2023. SCORE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53" y="28575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40">
                <a:solidFill>
                  <a:srgbClr val="3B4E52"/>
                </a:solidFill>
                <a:latin typeface="Consolas"/>
              </a:rPr>
              <a:t>WITHIN 1 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18653" y="2839212"/>
            <a:ext cx="7327140" cy="146304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18653" y="2839212"/>
            <a:ext cx="4520845" cy="146304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37233" y="2820924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0E1C20"/>
                </a:solidFill>
                <a:latin typeface="Consolas"/>
              </a:rPr>
              <a:t>61.7%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53" y="324154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40">
                <a:solidFill>
                  <a:srgbClr val="3B4E52"/>
                </a:solidFill>
                <a:latin typeface="Consolas"/>
              </a:rPr>
              <a:t>WITHIN 2 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18653" y="3223260"/>
            <a:ext cx="7327140" cy="146304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18653" y="3223260"/>
            <a:ext cx="5913002" cy="146304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37233" y="320497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0E1C20"/>
                </a:solidFill>
                <a:latin typeface="Consolas"/>
              </a:rPr>
              <a:t>80.7%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53" y="3863340"/>
            <a:ext cx="503517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>
                <a:solidFill>
                  <a:srgbClr val="0E6E7D"/>
                </a:solidFill>
                <a:latin typeface="Arial Narrow"/>
              </a:rPr>
              <a:t>1.38</a:t>
            </a:r>
            <a:r>
              <a:rPr sz="5200" b="1">
                <a:solidFill>
                  <a:srgbClr val="3B4E52"/>
                </a:solidFill>
                <a:latin typeface="Arial Narrow"/>
              </a:rPr>
              <a:t>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53" y="4521708"/>
            <a:ext cx="503517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MEAN ABSOLUTE 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5023" y="3863340"/>
            <a:ext cx="503517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>
                <a:solidFill>
                  <a:srgbClr val="0E6E7D"/>
                </a:solidFill>
                <a:latin typeface="Arial Narrow"/>
              </a:rPr>
              <a:t>19.2</a:t>
            </a:r>
            <a:r>
              <a:rPr sz="5200" b="1">
                <a:solidFill>
                  <a:srgbClr val="3B4E52"/>
                </a:solidFill>
                <a:latin typeface="Arial Narrow"/>
              </a:rPr>
              <a:t>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5023" y="4521708"/>
            <a:ext cx="503517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MAE AS A SHARE OF MEAN LEVEL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89853" y="4978908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50" b="0">
                <a:solidFill>
                  <a:srgbClr val="3B4E52"/>
                </a:solidFill>
                <a:latin typeface="Palatino Linotype"/>
              </a:rPr>
              <a:t>Four stations in five land within two metres. That is honest baseline accuracy — reported as measured, and the number the next model must improve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02" cy="685800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486" y="0"/>
            <a:ext cx="7315" cy="6858000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6434" y="548640"/>
            <a:ext cx="7315" cy="5829300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0" y="5486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48006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" y="171450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164592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0" y="288036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" y="281177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0" y="404622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397763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0" y="521208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" y="514350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" y="63779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" y="630935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50</a:t>
            </a:r>
          </a:p>
        </p:txBody>
      </p:sp>
      <p:sp>
        <p:nvSpPr>
          <p:cNvPr id="18" name="Oval 17"/>
          <p:cNvSpPr/>
          <p:nvPr/>
        </p:nvSpPr>
        <p:spPr>
          <a:xfrm>
            <a:off x="436462" y="4719830"/>
            <a:ext cx="207258" cy="207258"/>
          </a:xfrm>
          <a:prstGeom prst="ellipse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473952"/>
            <a:ext cx="8778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spc="120">
                <a:solidFill>
                  <a:srgbClr val="6C7D80"/>
                </a:solidFill>
                <a:latin typeface="Consolas"/>
              </a:rPr>
              <a:t>mbgl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53" y="1062989"/>
            <a:ext cx="10070340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113" y="64373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00">
                <a:solidFill>
                  <a:srgbClr val="6C7D80"/>
                </a:solidFill>
                <a:latin typeface="Consolas"/>
              </a:rPr>
              <a:t>JALDRISHTI</a:t>
            </a:r>
            <a:r>
              <a:rPr sz="800" b="0" spc="100">
                <a:solidFill>
                  <a:srgbClr val="6C7D80"/>
                </a:solidFill>
                <a:latin typeface="Consolas"/>
              </a:rPr>
              <a:t>     12 /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7883"/>
            <a:ext cx="12191695" cy="20116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37883"/>
            <a:ext cx="8940576" cy="20116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9853" y="502920"/>
            <a:ext cx="1007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200">
                <a:solidFill>
                  <a:srgbClr val="0A5563"/>
                </a:solidFill>
                <a:latin typeface="Consolas"/>
              </a:rPr>
              <a:t>FINDINGS  </a:t>
            </a:r>
            <a:r>
              <a:rPr sz="900" b="0" spc="200">
                <a:solidFill>
                  <a:srgbClr val="6C7D80"/>
                </a:solidFill>
                <a:latin typeface="Consolas"/>
              </a:rPr>
              <a:t>/ LATEST YEAR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53" y="1303020"/>
            <a:ext cx="100703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WHAT THE DATA</a:t>
            </a:r>
          </a:p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ALREADY SAYS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53" y="2830068"/>
            <a:ext cx="33567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>
                <a:solidFill>
                  <a:srgbClr val="C2521A"/>
                </a:solidFill>
                <a:latin typeface="Arial Narrow"/>
              </a:rPr>
              <a:t>43.3</a:t>
            </a:r>
            <a:r>
              <a:rPr sz="5200" b="1">
                <a:solidFill>
                  <a:srgbClr val="3B4E52"/>
                </a:solidFill>
                <a:latin typeface="Arial Narrow"/>
              </a:rPr>
              <a:t>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53" y="3488436"/>
            <a:ext cx="33567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OF STATIONS UNDER STRESS (GAVI BELOW 50)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46633" y="2830068"/>
            <a:ext cx="33567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>
                <a:solidFill>
                  <a:srgbClr val="8E1F3F"/>
                </a:solidFill>
                <a:latin typeface="Arial Narrow"/>
              </a:rPr>
              <a:t>1,109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6633" y="3488436"/>
            <a:ext cx="33567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CRITICAL ALERTS ACTIVE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3413" y="2830068"/>
            <a:ext cx="33567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5200" b="1">
                <a:solidFill>
                  <a:srgbClr val="0E6E7D"/>
                </a:solidFill>
                <a:latin typeface="Arial Narrow"/>
              </a:rPr>
              <a:t>54.1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3413" y="3488436"/>
            <a:ext cx="33567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NATIONAL AVERAGE GAVI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9853" y="4430268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50" b="0">
                <a:solidFill>
                  <a:srgbClr val="3B4E52"/>
                </a:solidFill>
                <a:latin typeface="Palatino Linotype"/>
              </a:rPr>
              <a:t>Every one of these figures was already sitting in the published record. It was spread across hundreds of pages of tabulated PDF, where it is unreadable at a glance and unusable as a trigger for 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02" cy="685800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486" y="0"/>
            <a:ext cx="7315" cy="6858000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6434" y="548640"/>
            <a:ext cx="7315" cy="5829300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0" y="5486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48006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" y="171450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164592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0" y="288036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" y="281177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0" y="404622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397763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0" y="521208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" y="514350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" y="63779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" y="630935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50</a:t>
            </a:r>
          </a:p>
        </p:txBody>
      </p:sp>
      <p:sp>
        <p:nvSpPr>
          <p:cNvPr id="18" name="Oval 17"/>
          <p:cNvSpPr/>
          <p:nvPr/>
        </p:nvSpPr>
        <p:spPr>
          <a:xfrm>
            <a:off x="436462" y="5108450"/>
            <a:ext cx="207258" cy="207258"/>
          </a:xfrm>
          <a:prstGeom prst="ellipse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473952"/>
            <a:ext cx="8778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spc="120">
                <a:solidFill>
                  <a:srgbClr val="6C7D80"/>
                </a:solidFill>
                <a:latin typeface="Consolas"/>
              </a:rPr>
              <a:t>mbgl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53" y="1062989"/>
            <a:ext cx="10070340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113" y="64373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00">
                <a:solidFill>
                  <a:srgbClr val="6C7D80"/>
                </a:solidFill>
                <a:latin typeface="Consolas"/>
              </a:rPr>
              <a:t>JALDRISHTI</a:t>
            </a:r>
            <a:r>
              <a:rPr sz="800" b="0" spc="100">
                <a:solidFill>
                  <a:srgbClr val="6C7D80"/>
                </a:solidFill>
                <a:latin typeface="Consolas"/>
              </a:rPr>
              <a:t>     13 /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7883"/>
            <a:ext cx="12191695" cy="20116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37883"/>
            <a:ext cx="9753356" cy="20116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9853" y="502920"/>
            <a:ext cx="1007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200">
                <a:solidFill>
                  <a:srgbClr val="0A5563"/>
                </a:solidFill>
                <a:latin typeface="Consolas"/>
              </a:rPr>
              <a:t>FINDINGS  </a:t>
            </a:r>
            <a:r>
              <a:rPr sz="900" b="0" spc="200">
                <a:solidFill>
                  <a:srgbClr val="6C7D80"/>
                </a:solidFill>
                <a:latin typeface="Consolas"/>
              </a:rPr>
              <a:t>/ THREE YEARS 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53" y="1303020"/>
            <a:ext cx="100703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AND WHERE</a:t>
            </a:r>
          </a:p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IT IS HEADING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53" y="2820924"/>
            <a:ext cx="100703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PROJECTED GAVI CATEGORY AT THE THREE-YEAR HORIZON — 3,636 STATIONS WITH SUFFICIENT RECORD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89853" y="3168396"/>
            <a:ext cx="4063461" cy="384048"/>
          </a:xfrm>
          <a:prstGeom prst="rect">
            <a:avLst/>
          </a:prstGeom>
          <a:solidFill>
            <a:srgbClr val="2E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73431" y="3168396"/>
            <a:ext cx="1090196" cy="384048"/>
          </a:xfrm>
          <a:prstGeom prst="rect">
            <a:avLst/>
          </a:prstGeom>
          <a:solidFill>
            <a:srgbClr val="E0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744" y="3168396"/>
            <a:ext cx="1123233" cy="384048"/>
          </a:xfrm>
          <a:prstGeom prst="rect">
            <a:avLst/>
          </a:prstGeom>
          <a:solidFill>
            <a:srgbClr val="C2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27094" y="3168396"/>
            <a:ext cx="3733098" cy="384048"/>
          </a:xfrm>
          <a:prstGeom prst="rect">
            <a:avLst/>
          </a:prstGeom>
          <a:solidFill>
            <a:srgbClr val="8E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89853" y="3781044"/>
            <a:ext cx="100584" cy="100584"/>
          </a:xfrm>
          <a:prstGeom prst="rect">
            <a:avLst/>
          </a:prstGeom>
          <a:solidFill>
            <a:srgbClr val="2E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91021" y="37170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B4E52"/>
                </a:solidFill>
                <a:latin typeface="Palatino Linotype"/>
              </a:rPr>
              <a:t>Safe </a:t>
            </a:r>
            <a:r>
              <a:rPr sz="1100" b="1">
                <a:solidFill>
                  <a:srgbClr val="0E1C20"/>
                </a:solidFill>
                <a:latin typeface="Palatino Linotype"/>
              </a:rPr>
              <a:t>1,476</a:t>
            </a:r>
            <a:r>
              <a:rPr sz="1100" b="0">
                <a:solidFill>
                  <a:srgbClr val="3B4E52"/>
                </a:solidFill>
                <a:latin typeface="Palatino Linotype"/>
              </a:rPr>
              <a:t> · 40.6%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07438" y="3781044"/>
            <a:ext cx="100584" cy="100584"/>
          </a:xfrm>
          <a:prstGeom prst="rect">
            <a:avLst/>
          </a:prstGeom>
          <a:solidFill>
            <a:srgbClr val="E0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08606" y="37170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B4E52"/>
                </a:solidFill>
                <a:latin typeface="Palatino Linotype"/>
              </a:rPr>
              <a:t>Watch </a:t>
            </a:r>
            <a:r>
              <a:rPr sz="1100" b="1">
                <a:solidFill>
                  <a:srgbClr val="0E1C20"/>
                </a:solidFill>
                <a:latin typeface="Palatino Linotype"/>
              </a:rPr>
              <a:t>396</a:t>
            </a:r>
            <a:r>
              <a:rPr sz="1100" b="0">
                <a:solidFill>
                  <a:srgbClr val="3B4E52"/>
                </a:solidFill>
                <a:latin typeface="Palatino Linotype"/>
              </a:rPr>
              <a:t> · 10.9%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25023" y="3781044"/>
            <a:ext cx="100584" cy="100584"/>
          </a:xfrm>
          <a:prstGeom prst="rect">
            <a:avLst/>
          </a:prstGeom>
          <a:solidFill>
            <a:srgbClr val="C2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6191" y="37170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B4E52"/>
                </a:solidFill>
                <a:latin typeface="Palatino Linotype"/>
              </a:rPr>
              <a:t>Stressed </a:t>
            </a:r>
            <a:r>
              <a:rPr sz="1100" b="1">
                <a:solidFill>
                  <a:srgbClr val="0E1C20"/>
                </a:solidFill>
                <a:latin typeface="Palatino Linotype"/>
              </a:rPr>
              <a:t>408</a:t>
            </a:r>
            <a:r>
              <a:rPr sz="1100" b="0">
                <a:solidFill>
                  <a:srgbClr val="3B4E52"/>
                </a:solidFill>
                <a:latin typeface="Palatino Linotype"/>
              </a:rPr>
              <a:t> · 11.2%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42608" y="3781044"/>
            <a:ext cx="100584" cy="100584"/>
          </a:xfrm>
          <a:prstGeom prst="rect">
            <a:avLst/>
          </a:prstGeom>
          <a:solidFill>
            <a:srgbClr val="8E1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3776" y="37170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B4E52"/>
                </a:solidFill>
                <a:latin typeface="Palatino Linotype"/>
              </a:rPr>
              <a:t>Critical </a:t>
            </a:r>
            <a:r>
              <a:rPr sz="1100" b="1">
                <a:solidFill>
                  <a:srgbClr val="0E1C20"/>
                </a:solidFill>
                <a:latin typeface="Palatino Linotype"/>
              </a:rPr>
              <a:t>1,356</a:t>
            </a:r>
            <a:r>
              <a:rPr sz="1100" b="0">
                <a:solidFill>
                  <a:srgbClr val="3B4E52"/>
                </a:solidFill>
                <a:latin typeface="Palatino Linotype"/>
              </a:rPr>
              <a:t> · 37.3%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89853" y="4210812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50" b="1">
                <a:solidFill>
                  <a:srgbClr val="0E1C20"/>
                </a:solidFill>
                <a:latin typeface="Palatino Linotype"/>
              </a:rPr>
              <a:t>1,356 stations</a:t>
            </a:r>
            <a:r>
              <a:rPr sz="1550" b="0">
                <a:solidFill>
                  <a:srgbClr val="3B4E52"/>
                </a:solidFill>
                <a:latin typeface="Palatino Linotype"/>
              </a:rPr>
              <a:t> are projected to be critical within three years, against 1,263 flagged at the one-year horizon. Those are named stations in named districts — a work list, not a statistic.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02" cy="685800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486" y="0"/>
            <a:ext cx="7315" cy="6858000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6434" y="548640"/>
            <a:ext cx="7315" cy="5829300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0" y="5486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48006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" y="171450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164592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0" y="288036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" y="281177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0" y="404622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397763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0" y="521208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" y="514350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" y="63779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" y="630935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50</a:t>
            </a:r>
          </a:p>
        </p:txBody>
      </p:sp>
      <p:sp>
        <p:nvSpPr>
          <p:cNvPr id="18" name="Oval 17"/>
          <p:cNvSpPr/>
          <p:nvPr/>
        </p:nvSpPr>
        <p:spPr>
          <a:xfrm>
            <a:off x="436462" y="5497070"/>
            <a:ext cx="207258" cy="207258"/>
          </a:xfrm>
          <a:prstGeom prst="ellipse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473952"/>
            <a:ext cx="8778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spc="120">
                <a:solidFill>
                  <a:srgbClr val="6C7D80"/>
                </a:solidFill>
                <a:latin typeface="Consolas"/>
              </a:rPr>
              <a:t>mbgl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53" y="1062989"/>
            <a:ext cx="10070340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113" y="64373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00">
                <a:solidFill>
                  <a:srgbClr val="6C7D80"/>
                </a:solidFill>
                <a:latin typeface="Consolas"/>
              </a:rPr>
              <a:t>JALDRISHTI</a:t>
            </a:r>
            <a:r>
              <a:rPr sz="800" b="0" spc="100">
                <a:solidFill>
                  <a:srgbClr val="6C7D80"/>
                </a:solidFill>
                <a:latin typeface="Consolas"/>
              </a:rPr>
              <a:t>     14 /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7883"/>
            <a:ext cx="12191695" cy="20116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37883"/>
            <a:ext cx="10566135" cy="20116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9853" y="502920"/>
            <a:ext cx="1007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200">
                <a:solidFill>
                  <a:srgbClr val="0A5563"/>
                </a:solidFill>
                <a:latin typeface="Consolas"/>
              </a:rPr>
              <a:t>DELIVERY  </a:t>
            </a:r>
            <a:r>
              <a:rPr sz="900" b="0" spc="200">
                <a:solidFill>
                  <a:srgbClr val="6C7D80"/>
                </a:solidFill>
                <a:latin typeface="Consolas"/>
              </a:rPr>
              <a:t>/ THE 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53" y="1303020"/>
            <a:ext cx="100703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SIX PAGES, ONE</a:t>
            </a:r>
          </a:p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BROWSER TAB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89853" y="2802636"/>
            <a:ext cx="3210476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9853" y="2948940"/>
            <a:ext cx="32104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1C20"/>
                </a:solidFill>
                <a:latin typeface="Arial Narrow"/>
              </a:rPr>
              <a:t>OVERVIEW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53" y="3314700"/>
            <a:ext cx="31190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>
                <a:solidFill>
                  <a:srgbClr val="3B4E52"/>
                </a:solidFill>
                <a:latin typeface="Palatino Linotype"/>
              </a:rPr>
              <a:t>National position at a glance — headline counts and the current distribution.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19785" y="2802636"/>
            <a:ext cx="3210476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19785" y="2948940"/>
            <a:ext cx="32104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1C20"/>
                </a:solidFill>
                <a:latin typeface="Arial Narrow"/>
              </a:rPr>
              <a:t>GAVI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19785" y="3314700"/>
            <a:ext cx="31190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>
                <a:solidFill>
                  <a:srgbClr val="3B4E52"/>
                </a:solidFill>
                <a:latin typeface="Palatino Linotype"/>
              </a:rPr>
              <a:t>Score distributions and category movement over the decade.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49717" y="2802636"/>
            <a:ext cx="3210476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9717" y="2948940"/>
            <a:ext cx="32104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1C20"/>
                </a:solidFill>
                <a:latin typeface="Arial Narrow"/>
              </a:rPr>
              <a:t>ALERTS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9717" y="3314700"/>
            <a:ext cx="31190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>
                <a:solidFill>
                  <a:srgbClr val="3B4E52"/>
                </a:solidFill>
                <a:latin typeface="Palatino Linotype"/>
              </a:rPr>
              <a:t>Live alert counts by type, filtered down to state and district.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89853" y="3973068"/>
            <a:ext cx="3210476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89853" y="4119372"/>
            <a:ext cx="32104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1C20"/>
                </a:solidFill>
                <a:latin typeface="Arial Narrow"/>
              </a:rPr>
              <a:t>GEOGRAPHIC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9853" y="4485132"/>
            <a:ext cx="31190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>
                <a:solidFill>
                  <a:srgbClr val="3B4E52"/>
                </a:solidFill>
                <a:latin typeface="Palatino Linotype"/>
              </a:rPr>
              <a:t>Clustered station maps and district ranking by stress ratio.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19785" y="3973068"/>
            <a:ext cx="3210476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19785" y="4119372"/>
            <a:ext cx="32104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1C20"/>
                </a:solidFill>
                <a:latin typeface="Arial Narrow"/>
              </a:rPr>
              <a:t>FORECASTING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9785" y="4485132"/>
            <a:ext cx="31190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>
                <a:solidFill>
                  <a:srgbClr val="3B4E52"/>
                </a:solidFill>
                <a:latin typeface="Palatino Linotype"/>
              </a:rPr>
              <a:t>One- and three-year projections with forward-looking alerts.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49717" y="3973068"/>
            <a:ext cx="3210476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49717" y="4119372"/>
            <a:ext cx="32104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1C20"/>
                </a:solidFill>
                <a:latin typeface="Arial Narrow"/>
              </a:rPr>
              <a:t>STATION EXPLORER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9717" y="4485132"/>
            <a:ext cx="31190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0">
                <a:solidFill>
                  <a:srgbClr val="3B4E52"/>
                </a:solidFill>
                <a:latin typeface="Palatino Linotype"/>
              </a:rPr>
              <a:t>The full history of any single well, against its own baseline.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9853" y="5234940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50" b="0">
                <a:solidFill>
                  <a:srgbClr val="3B4E52"/>
                </a:solidFill>
                <a:latin typeface="Palatino Linotype"/>
              </a:rPr>
              <a:t>No installation, no query language, no hydrology degree required.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02" cy="685800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486" y="0"/>
            <a:ext cx="7315" cy="6858000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6434" y="548640"/>
            <a:ext cx="7315" cy="5829300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0" y="5486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48006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" y="171450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164592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0" y="288036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" y="281177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0" y="404622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397763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0" y="521208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" y="514350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" y="63779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" y="630935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50</a:t>
            </a:r>
          </a:p>
        </p:txBody>
      </p:sp>
      <p:sp>
        <p:nvSpPr>
          <p:cNvPr id="18" name="Oval 17"/>
          <p:cNvSpPr/>
          <p:nvPr/>
        </p:nvSpPr>
        <p:spPr>
          <a:xfrm>
            <a:off x="436462" y="5885690"/>
            <a:ext cx="207258" cy="207258"/>
          </a:xfrm>
          <a:prstGeom prst="ellipse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473952"/>
            <a:ext cx="8778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spc="120">
                <a:solidFill>
                  <a:srgbClr val="6C7D80"/>
                </a:solidFill>
                <a:latin typeface="Consolas"/>
              </a:rPr>
              <a:t>mbgl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53" y="1062989"/>
            <a:ext cx="10070340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113" y="64373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00">
                <a:solidFill>
                  <a:srgbClr val="6C7D80"/>
                </a:solidFill>
                <a:latin typeface="Consolas"/>
              </a:rPr>
              <a:t>JALDRISHTI</a:t>
            </a:r>
            <a:r>
              <a:rPr sz="800" b="0" spc="100">
                <a:solidFill>
                  <a:srgbClr val="6C7D80"/>
                </a:solidFill>
                <a:latin typeface="Consolas"/>
              </a:rPr>
              <a:t>     15 /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7883"/>
            <a:ext cx="12191695" cy="20116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37883"/>
            <a:ext cx="11378915" cy="20116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89853" y="502920"/>
            <a:ext cx="1007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200">
                <a:solidFill>
                  <a:srgbClr val="0A5563"/>
                </a:solidFill>
                <a:latin typeface="Consolas"/>
              </a:rPr>
              <a:t>DELIVERY  </a:t>
            </a:r>
            <a:r>
              <a:rPr sz="900" b="0" spc="200">
                <a:solidFill>
                  <a:srgbClr val="6C7D80"/>
                </a:solidFill>
                <a:latin typeface="Consolas"/>
              </a:rPr>
              <a:t>/ HOW IT'S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53" y="1303020"/>
            <a:ext cx="100703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OPEN SOURCE,</a:t>
            </a:r>
          </a:p>
          <a:p>
            <a:pPr algn="l">
              <a:lnSpc>
                <a:spcPct val="98000"/>
              </a:lnSpc>
            </a:pPr>
            <a:r>
              <a:rPr sz="4300" b="1">
                <a:solidFill>
                  <a:srgbClr val="0E1C20"/>
                </a:solidFill>
                <a:latin typeface="Arial Narrow"/>
              </a:rPr>
              <a:t>END TO 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53" y="28575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LANGUAGE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2973" y="2820924"/>
            <a:ext cx="7967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C20"/>
                </a:solidFill>
                <a:latin typeface="Palatino Linotype"/>
              </a:rPr>
              <a:t>Python 3.11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89853" y="3150108"/>
            <a:ext cx="10070340" cy="7315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9853" y="33147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2973" y="3278124"/>
            <a:ext cx="7967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C20"/>
                </a:solidFill>
                <a:latin typeface="Palatino Linotype"/>
              </a:rPr>
              <a:t>Camelot · Ghostscript · pypdf · OpenCV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89853" y="3607308"/>
            <a:ext cx="10070340" cy="7315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89853" y="37719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PROCESSING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2973" y="3735324"/>
            <a:ext cx="7967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C20"/>
                </a:solidFill>
                <a:latin typeface="Palatino Linotype"/>
              </a:rPr>
              <a:t>pandas · NumPy · Jupyter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89853" y="4064508"/>
            <a:ext cx="10070340" cy="7315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89853" y="42291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INTERFACE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92973" y="4192524"/>
            <a:ext cx="7967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C20"/>
                </a:solidFill>
                <a:latin typeface="Palatino Linotype"/>
              </a:rPr>
              <a:t>Streamlit · Plotly · Folium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89853" y="4521708"/>
            <a:ext cx="10070340" cy="7315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89853" y="46863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spc="120">
                <a:solidFill>
                  <a:srgbClr val="6C7D80"/>
                </a:solidFill>
                <a:latin typeface="Consolas"/>
              </a:rPr>
              <a:t>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92973" y="4649724"/>
            <a:ext cx="79672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0E1C20"/>
                </a:solidFill>
                <a:latin typeface="Palatino Linotype"/>
              </a:rPr>
              <a:t>Docker · AWS EC2 · Git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89853" y="4978908"/>
            <a:ext cx="10070340" cy="7315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89853" y="5253228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50" b="0">
                <a:solidFill>
                  <a:srgbClr val="3B4E52"/>
                </a:solidFill>
                <a:latin typeface="Palatino Linotype"/>
              </a:rPr>
              <a:t>Development cost is effectively nil: the toolchain is free, the data is published by the Government of India, and 86,912 records fit comfortably in memory on a commodity laptop. The only recurring cost is optional hosting.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02" cy="6858000"/>
          </a:xfrm>
          <a:prstGeom prst="rect">
            <a:avLst/>
          </a:prstGeom>
          <a:solidFill>
            <a:srgbClr val="E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0486" y="0"/>
            <a:ext cx="7315" cy="6858000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6434" y="548640"/>
            <a:ext cx="7315" cy="5829300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0" y="5486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48006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0" y="171450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164592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0" y="288036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" y="281177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0" y="404622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397763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0" y="521208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" y="5143500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0" y="6377940"/>
            <a:ext cx="316984" cy="7315"/>
          </a:xfrm>
          <a:prstGeom prst="rect">
            <a:avLst/>
          </a:prstGeom>
          <a:solidFill>
            <a:srgbClr val="C6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" y="6309359"/>
            <a:ext cx="26821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spc="40">
                <a:solidFill>
                  <a:srgbClr val="6C7D80"/>
                </a:solidFill>
                <a:latin typeface="Consolas"/>
              </a:rPr>
              <a:t>50</a:t>
            </a:r>
          </a:p>
        </p:txBody>
      </p:sp>
      <p:sp>
        <p:nvSpPr>
          <p:cNvPr id="18" name="Oval 17"/>
          <p:cNvSpPr/>
          <p:nvPr/>
        </p:nvSpPr>
        <p:spPr>
          <a:xfrm>
            <a:off x="436462" y="6274310"/>
            <a:ext cx="207258" cy="207258"/>
          </a:xfrm>
          <a:prstGeom prst="ellipse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473952"/>
            <a:ext cx="8778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spc="120">
                <a:solidFill>
                  <a:srgbClr val="6C7D80"/>
                </a:solidFill>
                <a:latin typeface="Consolas"/>
              </a:rPr>
              <a:t>mbgl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4113" y="643737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spc="100">
                <a:solidFill>
                  <a:srgbClr val="6C7D80"/>
                </a:solidFill>
                <a:latin typeface="Consolas"/>
              </a:rPr>
              <a:t>JALDRISHTI</a:t>
            </a:r>
            <a:r>
              <a:rPr sz="800" b="0" spc="100">
                <a:solidFill>
                  <a:srgbClr val="6C7D80"/>
                </a:solidFill>
                <a:latin typeface="Consolas"/>
              </a:rPr>
              <a:t>     16 / 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37883"/>
            <a:ext cx="12191695" cy="20116"/>
          </a:xfrm>
          <a:prstGeom prst="rect">
            <a:avLst/>
          </a:prstGeom>
          <a:solidFill>
            <a:srgbClr val="DC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837883"/>
            <a:ext cx="12191695" cy="20116"/>
          </a:xfrm>
          <a:prstGeom prst="rect">
            <a:avLst/>
          </a:prstGeom>
          <a:solidFill>
            <a:srgbClr val="0E6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53" y="502920"/>
            <a:ext cx="1007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200">
                <a:solidFill>
                  <a:srgbClr val="0A5563"/>
                </a:solidFill>
                <a:latin typeface="Consolas"/>
              </a:rPr>
              <a:t>IN CLOSING  </a:t>
            </a:r>
            <a:r>
              <a:rPr sz="900" b="0" spc="200">
                <a:solidFill>
                  <a:srgbClr val="6C7D80"/>
                </a:solidFill>
                <a:latin typeface="Consolas"/>
              </a:rPr>
              <a:t>/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53" y="1965960"/>
            <a:ext cx="89730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</a:pPr>
            <a:r>
              <a:rPr sz="5500" b="1">
                <a:solidFill>
                  <a:srgbClr val="0E1C20"/>
                </a:solidFill>
                <a:latin typeface="Arial Narrow"/>
              </a:rPr>
              <a:t>SHORTEN THE DISTANCE BETWEEN </a:t>
            </a:r>
            <a:r>
              <a:rPr sz="5500" b="1">
                <a:solidFill>
                  <a:srgbClr val="0E6E7D"/>
                </a:solidFill>
                <a:latin typeface="Arial Narrow"/>
              </a:rPr>
              <a:t>MEASUREMENT</a:t>
            </a:r>
            <a:r>
              <a:rPr sz="5500" b="1">
                <a:solidFill>
                  <a:srgbClr val="0E1C20"/>
                </a:solidFill>
                <a:latin typeface="Arial Narrow"/>
              </a:rPr>
              <a:t> AND </a:t>
            </a:r>
            <a:r>
              <a:rPr sz="5500" b="1">
                <a:solidFill>
                  <a:srgbClr val="0E6E7D"/>
                </a:solidFill>
                <a:latin typeface="Arial Narrow"/>
              </a:rPr>
              <a:t>INTERVENTION</a:t>
            </a:r>
            <a:r>
              <a:rPr sz="5500" b="1">
                <a:solidFill>
                  <a:srgbClr val="0E1C20"/>
                </a:solidFill>
                <a:latin typeface="Arial Narrow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53" y="4572000"/>
            <a:ext cx="8595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b="0">
                <a:solidFill>
                  <a:srgbClr val="3B4E52"/>
                </a:solidFill>
                <a:latin typeface="Palatino Linotype"/>
              </a:rPr>
              <a:t>The readings were already being taken. JalDrishti turns them into a score that travels, an alert that can be trusted, and a forecast that arrives before the wells 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53" y="5806440"/>
            <a:ext cx="10070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80">
                <a:solidFill>
                  <a:srgbClr val="6C7D80"/>
                </a:solidFill>
                <a:latin typeface="Consolas"/>
              </a:rPr>
              <a:t>JALDRISHTI     SOURCE: CENTRAL GROUND WATER BOARD, 2015–2024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